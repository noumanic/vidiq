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hook from the ad: 'You hit play on a 90-min video and walked away three minutes later.' Quick pause, then click into the live demo. Time: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all 4 stats out loud. Pause after the third — that's the strongest hook for the marker. Time: 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LIVE: switch to the browser, paste a 2-minute YouTube URL, watch the pipeline complete. Have a backup video pre-loaded in /library in case the live one stalls. Time: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 to the multimodal angle: 'transcript alone is text — frames + transcript is understanding.' Mention the failover (real engineering moat). Time: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violet, not blue (default SaaS): blue is the consultancy default — violet retains the trust association while signalling creativity and AI. Cite Mehta-Zhu (2009) on red/blue cognition. Time: 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 the actual MP4 here once filmed. Auto-play on click. Pause on transition to slide 7. Time: 35 seconds (the ad runs).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KPI #5 (14/14 days covered) and KPI #6 (4 formats — exceeds 3+ requirement). Time: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Showcase mode: campaigns built to Review screen, screenshotted, never published — $0 spend. Time: 55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Templates from 05-social-templates.md. Configure in Business Suite, screenshot once configured. Time: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long-tail first: domain authority of 1 — head terms unrankable in 14 days. Long-tail KD&lt;15 is achievable per page. Cite 06-keyword-research.md. Time: 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Lighthouse on the live URL the morning of, screenshot, paste the actual scores. Mention 07-onpage-seo-report.md for the full audit. Time: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Strategy from 08-google-ads-plan.md. Screenshot the Review screen of each campaign. Time: 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the 38/28 split: paid acquisition is dominant because organic SEO is months out for a DA-1 domain. Creative + influencer is intentionally lean. 09-budget.md has full rationale. Time: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moats: live + multimodal + verticals — neither competitor ships any of those. Cite 10-competitive-analysis.md. Time: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17/18 number first, then explain the open one (video ad). Cite the live KPI tracker in the app: vidiq-two.vercel.app/marketing. Time: 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this slide out only if asked. Don't volunteer it. Time: 40 seconds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9144000" cy="9144000"/>
          </a:xfrm>
          <a:prstGeom prst="ellipse">
            <a:avLst/>
          </a:prstGeom>
          <a:solidFill>
            <a:srgbClr val="2A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1">
                <a:solidFill>
                  <a:srgbClr val="F5EFFF"/>
                </a:solidFill>
                <a:latin typeface="Plus Jakarta Sans"/>
              </a:rPr>
              <a:t>VidIQ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3657600"/>
            <a:ext cx="137160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A855F7"/>
                </a:solidFill>
                <a:latin typeface="Plus Jakarta Sans"/>
              </a:rPr>
              <a:t>AI Video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B8B0C8"/>
                </a:solidFill>
                <a:latin typeface="Inter"/>
              </a:rPr>
              <a:t>Watch less. Learn more.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06B6D4"/>
                </a:solidFill>
                <a:latin typeface="JetBrains Mono"/>
              </a:rPr>
              <a:t>https://vidiq-two.vercel.app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C4899"/>
                </a:solidFill>
                <a:latin typeface="Inter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Long-form video is the most-uploaded but least-read medium.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0 · Problem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>
                <a:solidFill>
                  <a:srgbClr val="EC4899"/>
                </a:solidFill>
                <a:latin typeface="Inter"/>
              </a:rPr>
              <a:t>■  </a:t>
            </a:r>
            <a:r>
              <a:rPr sz="1800">
                <a:solidFill>
                  <a:srgbClr val="F5EFFF"/>
                </a:solidFill>
                <a:latin typeface="Inter"/>
              </a:rPr>
              <a:t>500 hours of video uploaded to YouTube every minute (Statista, 2024).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>
                <a:solidFill>
                  <a:srgbClr val="EC4899"/>
                </a:solidFill>
                <a:latin typeface="Inter"/>
              </a:rPr>
              <a:t>■  </a:t>
            </a:r>
            <a:r>
              <a:rPr sz="1800">
                <a:solidFill>
                  <a:srgbClr val="F5EFFF"/>
                </a:solidFill>
                <a:latin typeface="Inter"/>
              </a:rPr>
              <a:t>Average watch time per session: 17 minutes — a 90-minute lecture takes 5 sessions.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>
                <a:solidFill>
                  <a:srgbClr val="EC4899"/>
                </a:solidFill>
                <a:latin typeface="Inter"/>
              </a:rPr>
              <a:t>■  </a:t>
            </a:r>
            <a:r>
              <a:rPr sz="1800">
                <a:solidFill>
                  <a:srgbClr val="F5EFFF"/>
                </a:solidFill>
                <a:latin typeface="Inter"/>
              </a:rPr>
              <a:t>65% of students rewatch lecture videos at 2× — search and citations are the bottleneck.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800">
                <a:solidFill>
                  <a:srgbClr val="EC4899"/>
                </a:solidFill>
                <a:latin typeface="Inter"/>
              </a:rPr>
              <a:t>■  </a:t>
            </a:r>
            <a:r>
              <a:rPr sz="1800">
                <a:solidFill>
                  <a:srgbClr val="F5EFFF"/>
                </a:solidFill>
                <a:latin typeface="Inter"/>
              </a:rPr>
              <a:t>Existing tools summarise text (NotebookLM) or audio (Otter); none combine speech + 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A855F7"/>
                </a:solidFill>
                <a:latin typeface="Inter"/>
              </a:rPr>
              <a:t>PILLAR 3 ·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The dashboard you'll see in the live demo.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3 ·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Multimodal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Speech (Whisper) + vision (Gemini) + LLM, fused into one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591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Time-stamped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803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Every claim cites the exact transcript moment. Click to seek.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93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Live + recorded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YouTube videos AND live streams — no competitor ships both.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2793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Domain-aware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8006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Medical / legal / trading / education modes adapt the prompt.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6B6D4"/>
                </a:solidFill>
                <a:latin typeface="JetBrains Mono"/>
              </a:rPr>
              <a:t>LIVE  →  vidiq-two.vercel.app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A855F7"/>
                </a:solidFill>
                <a:latin typeface="Inter"/>
              </a:rPr>
              <a:t>PILLAR 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End-to-end multimodal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3 ·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292608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607" y="30906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5EFFF"/>
                </a:solidFill>
                <a:latin typeface="Plus Jakarta Sans"/>
              </a:rPr>
              <a:t>URL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3566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A855F7"/>
                </a:solidFill>
                <a:latin typeface="JetBrains Mono"/>
              </a:rPr>
              <a:t>yt-dlp resolve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39415" y="3429000"/>
            <a:ext cx="192024" cy="18288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49727" y="292608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6887" y="30906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5EFFF"/>
                </a:solidFill>
                <a:latin typeface="Plus Jakarta Sans"/>
              </a:rPr>
              <a:t>Audio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6887" y="3566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06B6D4"/>
                </a:solidFill>
                <a:latin typeface="JetBrains Mono"/>
              </a:rPr>
              <a:t>ffmpeg → Whisper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79695" y="3429000"/>
            <a:ext cx="192024" cy="18288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90007" y="292608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7167" y="30906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5EFFF"/>
                </a:solidFill>
                <a:latin typeface="Plus Jakarta Sans"/>
              </a:rPr>
              <a:t>Frames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7167" y="3566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0B981"/>
                </a:solidFill>
                <a:latin typeface="JetBrains Mono"/>
              </a:rPr>
              <a:t>OpenCV scene-cut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19975" y="3429000"/>
            <a:ext cx="192024" cy="18288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30287" y="292608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7447" y="30906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5EFFF"/>
                </a:solidFill>
                <a:latin typeface="Plus Jakarta Sans"/>
              </a:rPr>
              <a:t>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447" y="3566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59E0B"/>
                </a:solidFill>
                <a:latin typeface="JetBrains Mono"/>
              </a:rPr>
              <a:t>Gemini caption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60255" y="3429000"/>
            <a:ext cx="192024" cy="18288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70567" y="2926080"/>
            <a:ext cx="2011680" cy="11887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7727" y="30906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5EFFF"/>
                </a:solidFill>
                <a:latin typeface="Plus Jakarta Sans"/>
              </a:rPr>
              <a:t>Synthesise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7727" y="3566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EC4899"/>
                </a:solidFill>
                <a:latin typeface="JetBrains Mono"/>
              </a:rPr>
              <a:t>LLM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B8B0C8"/>
                </a:solidFill>
                <a:latin typeface="JetBrains Mono"/>
              </a:rPr>
              <a:t>Stack:  FastAPI · Next.js 14 · Gemini · faster-whisper · OpenCV · SQLite · WebSocket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6080"/>
                </a:solidFill>
                <a:latin typeface="Inter"/>
              </a:rPr>
              <a:t>Provider-agnostic: Gemini ↔ Groq ↔ OpenAI auto-failover.  Free-tier capped — $0 to operate.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C4899"/>
                </a:solidFill>
                <a:latin typeface="Inter"/>
              </a:rPr>
              <a:t>PILLAR 1 · BRANDING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Identity that signals AI without the cliché.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1 · Branding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B6080"/>
                </a:solidFill>
                <a:latin typeface="Inter"/>
              </a:rPr>
              <a:t>PALETTE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640080" cy="640080"/>
          </a:xfrm>
          <a:prstGeom prst="roundRect">
            <a:avLst/>
          </a:prstGeom>
          <a:solidFill>
            <a:srgbClr val="A855F7"/>
          </a:solidFill>
          <a:ln w="6350">
            <a:solidFill>
              <a:srgbClr val="44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6517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EFFF"/>
                </a:solidFill>
                <a:latin typeface="Plus Jakarta Sans"/>
              </a:rPr>
              <a:t>Violet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71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8B0C8"/>
                </a:solidFill>
                <a:latin typeface="Inter"/>
              </a:rPr>
              <a:t>Trust + creativity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640080" cy="640080"/>
          </a:xfrm>
          <a:prstGeom prst="roundRect">
            <a:avLst/>
          </a:prstGeom>
          <a:solidFill>
            <a:srgbClr val="EC4899"/>
          </a:solidFill>
          <a:ln w="6350">
            <a:solidFill>
              <a:srgbClr val="44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4290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EFFF"/>
                </a:solidFill>
                <a:latin typeface="Plus Jakarta Sans"/>
              </a:rPr>
              <a:t>Fuchsia 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49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8B0C8"/>
                </a:solidFill>
                <a:latin typeface="Inter"/>
              </a:rPr>
              <a:t>Energy + signal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640080" cy="640080"/>
          </a:xfrm>
          <a:prstGeom prst="roundRect">
            <a:avLst/>
          </a:prstGeom>
          <a:solidFill>
            <a:srgbClr val="06B6D4"/>
          </a:solidFill>
          <a:ln w="6350">
            <a:solidFill>
              <a:srgbClr val="44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EFFF"/>
                </a:solidFill>
                <a:latin typeface="Plus Jakarta Sans"/>
              </a:rPr>
              <a:t>Cyan 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26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8B0C8"/>
                </a:solidFill>
                <a:latin typeface="Inter"/>
              </a:rPr>
              <a:t>Clarity + 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37760"/>
            <a:ext cx="640080" cy="640080"/>
          </a:xfrm>
          <a:prstGeom prst="roundRect">
            <a:avLst/>
          </a:prstGeom>
          <a:solidFill>
            <a:srgbClr val="0A0612"/>
          </a:solidFill>
          <a:ln w="6350">
            <a:solidFill>
              <a:srgbClr val="44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983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EFFF"/>
                </a:solidFill>
                <a:latin typeface="Plus Jakarta Sans"/>
              </a:rPr>
              <a:t>Midnight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03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8B0C8"/>
                </a:solidFill>
                <a:latin typeface="Inter"/>
              </a:rPr>
              <a:t>Stage / canvas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B6080"/>
                </a:solidFill>
                <a:latin typeface="Inter"/>
              </a:rPr>
              <a:t>TYPOGRAPHY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603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5EFFF"/>
                </a:solidFill>
                <a:latin typeface="Plus Jakarta Sans"/>
              </a:rPr>
              <a:t>Plus Jakarta Sans 800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80"/>
                </a:solidFill>
                <a:latin typeface="Inter"/>
              </a:rPr>
              <a:t>Display headings · humanist geometric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57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5EFFF"/>
                </a:solidFill>
                <a:latin typeface="Inter"/>
              </a:rPr>
              <a:t>Inter 400 / 500 / 600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14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80"/>
                </a:solidFill>
                <a:latin typeface="Inter"/>
              </a:rPr>
              <a:t>Body copy · interface · long-form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17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6B6D4"/>
                </a:solidFill>
                <a:latin typeface="JetBrains Mono"/>
              </a:rPr>
              <a:t>JetBrains Mono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29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080"/>
                </a:solidFill>
                <a:latin typeface="Inter"/>
              </a:rPr>
              <a:t>Code · timestamps · technical labels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8B0C8"/>
                </a:solidFill>
                <a:latin typeface="Inter"/>
              </a:rPr>
              <a:t>Brand consistency audit: applied across 7 surfaces (favicon · top-nav · hero · OG card · JSON-LD · 4 page meta titles).  See 01-brand-guide.md §8.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C4899"/>
                </a:solidFill>
                <a:latin typeface="Inter"/>
              </a:rPr>
              <a:t>PILLAR 1 · CREATIVE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30-second teaser ad — story arc.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1 · Creative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127" y="2468880"/>
            <a:ext cx="2194560" cy="201168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9719" y="2633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A855F7"/>
                </a:solidFill>
                <a:latin typeface="JetBrains Mono"/>
              </a:rPr>
              <a:t>0–3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719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719" y="3429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Pause the lecture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66847" y="2468880"/>
            <a:ext cx="2194560" cy="201168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1439" y="2633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C4899"/>
                </a:solidFill>
                <a:latin typeface="JetBrains Mono"/>
              </a:rPr>
              <a:t>3–10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1439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1439" y="3429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90 min, 17 min watched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98567" y="2468880"/>
            <a:ext cx="2194560" cy="201168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3159" y="2633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6B6D4"/>
                </a:solidFill>
                <a:latin typeface="JetBrains Mono"/>
              </a:rPr>
              <a:t>10–20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3159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3159" y="3429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Paste URL → grounded 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0287" y="2468880"/>
            <a:ext cx="2194560" cy="201168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4879" y="2633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0B981"/>
                </a:solidFill>
                <a:latin typeface="JetBrains Mono"/>
              </a:rPr>
              <a:t>20–26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4879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4879" y="3429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Click any claim → exact moment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2007" y="2468880"/>
            <a:ext cx="2194560" cy="201168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6599" y="2633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59E0B"/>
                </a:solidFill>
                <a:latin typeface="JetBrains Mono"/>
              </a:rPr>
              <a:t>26–30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6599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CTA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6599" y="3429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Watch less. Learn more.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A855F7"/>
                </a:solidFill>
                <a:latin typeface="JetBrains Mono"/>
              </a:rPr>
              <a:t>[ Embed video here · drop the 30-second master cut once filmed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6080"/>
                </a:solidFill>
                <a:latin typeface="Inter"/>
              </a:rPr>
              <a:t>Cutdowns:  30s master · 15s social · 6s bumper · 10s in-stream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6B6D4"/>
                </a:solidFill>
                <a:latin typeface="Inter"/>
              </a:rPr>
              <a:t>PILLAR 2 ·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14-day calendar across Facebook + Instagram.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2 · Social calendar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>
                <a:solidFill>
                  <a:srgbClr val="06B6D4"/>
                </a:solidFill>
                <a:latin typeface="Plus Jakarta Sans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POSTS QUEUED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9456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>
                <a:solidFill>
                  <a:srgbClr val="06B6D4"/>
                </a:solidFill>
                <a:latin typeface="Plus Jakarta Sa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718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CONTENT FORMATS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9456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3317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>
                <a:solidFill>
                  <a:srgbClr val="06B6D4"/>
                </a:solidFill>
                <a:latin typeface="Plus Jakarta Sans"/>
              </a:rPr>
              <a:t>7×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718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WEEKLY CADENCE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19456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3317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>
                <a:solidFill>
                  <a:srgbClr val="06B6D4"/>
                </a:solidFill>
                <a:latin typeface="Plus Jakarta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9718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B6080"/>
                </a:solidFill>
                <a:latin typeface="Inter"/>
              </a:rPr>
              <a:t>FORMATS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605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F123A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000" b="1">
                <a:solidFill>
                  <a:srgbClr val="06B6D4"/>
                </a:solidFill>
                <a:latin typeface="Inter"/>
              </a:rPr>
              <a:t>Reels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8839" y="41605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F123A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000" b="1">
                <a:solidFill>
                  <a:srgbClr val="06B6D4"/>
                </a:solidFill>
                <a:latin typeface="Inter"/>
              </a:rPr>
              <a:t>Carousels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605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F123A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000" b="1">
                <a:solidFill>
                  <a:srgbClr val="06B6D4"/>
                </a:solidFill>
                <a:latin typeface="Inter"/>
              </a:rPr>
              <a:t>Single image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6359" y="41605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F123A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000" b="1">
                <a:solidFill>
                  <a:srgbClr val="06B6D4"/>
                </a:solidFill>
                <a:latin typeface="Inter"/>
              </a:rPr>
              <a:t>Stories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A855F7"/>
                </a:solidFill>
                <a:latin typeface="JetBrains Mono"/>
              </a:rPr>
              <a:t>[ Screenshot of Meta Business Suite Planner with all 28 posts visible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6080"/>
                </a:solidFill>
                <a:latin typeface="Inter"/>
              </a:rPr>
              <a:t>All copy in 03-content-calendar.md.  Captions tone-matched to brand voice.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6B6D4"/>
                </a:solidFill>
                <a:latin typeface="Inter"/>
              </a:rPr>
              <a:t>PILLAR 2 · META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$280 / 14 days · 4 ad sets · 6 creatives.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2 · Meta 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A855F7"/>
                </a:solidFill>
                <a:latin typeface="JetBrains Mono"/>
              </a:rPr>
              <a:t>Ad Set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5059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>
                <a:solidFill>
                  <a:srgbClr val="A855F7"/>
                </a:solidFill>
                <a:latin typeface="Plus Jakarta Sans"/>
              </a:rPr>
              <a:t>$70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South Asia · 18-26 · cramming, study, exam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286000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450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C4899"/>
                </a:solidFill>
                <a:latin typeface="JetBrains Mono"/>
              </a:rPr>
              <a:t>Ad Set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45059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>
                <a:solidFill>
                  <a:srgbClr val="EC4899"/>
                </a:solidFill>
                <a:latin typeface="Plus Jakarta Sans"/>
              </a:rPr>
              <a:t>$70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88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Creators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461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Global EN · 22-35 · YT, Substack, Notion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14800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793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6B6D4"/>
                </a:solidFill>
                <a:latin typeface="JetBrains Mono"/>
              </a:rPr>
              <a:t>Ad Set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7939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>
                <a:solidFill>
                  <a:srgbClr val="06B6D4"/>
                </a:solidFill>
                <a:latin typeface="Plus Jakarta Sans"/>
              </a:rPr>
              <a:t>$70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Knowledge workers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US/EU · 28-50 · MBAs, consultants, PMs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114800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2793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0B981"/>
                </a:solidFill>
                <a:latin typeface="JetBrains Mono"/>
              </a:rPr>
              <a:t>Ad Set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427939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$70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177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Retargeting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0749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0C8"/>
                </a:solidFill>
                <a:latin typeface="Inter"/>
              </a:rPr>
              <a:t>Site visitors · 7-day · 4× ROAS expected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6080"/>
                </a:solidFill>
                <a:latin typeface="Inter"/>
              </a:rPr>
              <a:t>Strategy → 04-meta-ads-plan.md  ·  Each ad set screenshotted from Ads Manager 'Review' 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6B6D4"/>
                </a:solidFill>
                <a:latin typeface="Inter"/>
              </a:rPr>
              <a:t>PILLAR 2 · ALWAYS-ON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Welcome, auto-reply, comment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2 · 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5303520" cy="320040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6B6D4"/>
                </a:solidFill>
                <a:latin typeface="Inter"/>
              </a:rPr>
              <a:t>WELCOME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4754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Hey 👋 thanks for stopping by VidIQ.
We turn any YouTube link into a transcript, time-stamped summary and grounded Q&amp;A — in seconds.
Try it free: vidiq-two.vercel.app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86000"/>
            <a:ext cx="5303520" cy="320040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C4899"/>
                </a:solidFill>
                <a:latin typeface="Inter"/>
              </a:rPr>
              <a:t>AUTO-REPLY (KEYWORD: PRICING)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88920"/>
            <a:ext cx="4754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VidIQ is free during launch.
Free tier: unlimited 10-min videos · grounded chat · live stream summaries.
No card. No catch. Try it: vidiq-two.vercel.app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A855F7"/>
                </a:solidFill>
                <a:latin typeface="JetBrains Mono"/>
              </a:rPr>
              <a:t>[ Screenshot Business Suite welcome + auto-reply config — KPI #9 evidence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59E0B"/>
                </a:solidFill>
                <a:latin typeface="Inter"/>
              </a:rPr>
              <a:t>PILLAR 4 ·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18-keyword strategy · long-tail-first.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4 · Keyword 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F59E0B"/>
                </a:solidFill>
                <a:latin typeface="Plus Jakarta Sans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8B0C8"/>
                </a:solidFill>
                <a:latin typeface="Inter"/>
              </a:rPr>
              <a:t>TOTAL KWS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9456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EC4899"/>
                </a:solidFill>
                <a:latin typeface="Plus Jakarta Sa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8B0C8"/>
                </a:solidFill>
                <a:latin typeface="Inter"/>
              </a:rPr>
              <a:t>SHORT-TAIL 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9456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10B981"/>
                </a:solidFill>
                <a:latin typeface="Plus Jakarta Sans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803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8B0C8"/>
                </a:solidFill>
                <a:latin typeface="Inter"/>
              </a:rPr>
              <a:t>LONG-TAIL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19456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286000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6B6D4"/>
                </a:solidFill>
                <a:latin typeface="Plus Jakarta Sans"/>
              </a:rPr>
              <a:t>21.8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803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8B0C8"/>
                </a:solidFill>
                <a:latin typeface="Inter"/>
              </a:rPr>
              <a:t>AVG KD (LOW)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B6080"/>
                </a:solidFill>
                <a:latin typeface="Inter"/>
              </a:rPr>
              <a:t>STRATEGIC ANCHORS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69080"/>
            <a:ext cx="10927080" cy="54864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879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EFFF"/>
                </a:solidFill>
                <a:latin typeface="Inter"/>
              </a:rPr>
              <a:t>ai video summarizer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1879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6B6D4"/>
                </a:solidFill>
                <a:latin typeface="JetBrains Mono"/>
              </a:rPr>
              <a:t>MSV 27,100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1879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0B981"/>
                </a:solidFill>
                <a:latin typeface="JetBrains Mono"/>
              </a:rPr>
              <a:t>KD 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187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B8B0C8"/>
                </a:solidFill>
                <a:latin typeface="JetBrains Mono"/>
              </a:rPr>
              <a:t>/ (home)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09160"/>
            <a:ext cx="10927080" cy="54864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280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EFFF"/>
                </a:solidFill>
                <a:latin typeface="Inter"/>
              </a:rPr>
              <a:t>summarize a 2 hour youtube 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8280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6B6D4"/>
                </a:solidFill>
                <a:latin typeface="JetBrains Mono"/>
              </a:rPr>
              <a:t>MSV 2,400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8280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0B981"/>
                </a:solidFill>
                <a:latin typeface="JetBrains Mono"/>
              </a:rPr>
              <a:t>KD 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8280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B8B0C8"/>
                </a:solidFill>
                <a:latin typeface="JetBrains Mono"/>
              </a:rPr>
              <a:t>/analyze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349240"/>
            <a:ext cx="10927080" cy="54864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681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EFFF"/>
                </a:solidFill>
                <a:latin typeface="Inter"/>
              </a:rPr>
              <a:t>live stream ai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4681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6B6D4"/>
                </a:solidFill>
                <a:latin typeface="JetBrains Mono"/>
              </a:rPr>
              <a:t>MSV 1,600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4681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0B981"/>
                </a:solidFill>
                <a:latin typeface="JetBrains Mono"/>
              </a:rPr>
              <a:t>KD 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4681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B8B0C8"/>
                </a:solidFill>
                <a:latin typeface="JetBrains Mono"/>
              </a:rPr>
              <a:t>/live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59E0B"/>
                </a:solidFill>
                <a:latin typeface="Inter"/>
              </a:rPr>
              <a:t>PILLAR 4 · ON-PAGE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Lighthouse, meta tags, structured data — all 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4 · On-page SEO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A855F7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77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5EFFF"/>
                </a:solidFill>
                <a:latin typeface="Plus Jakarta Sans"/>
              </a:rPr>
              <a:t>Meta 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Per-page title + description + canonical + OG + Twitter card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9456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06B6D4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377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5EFFF"/>
                </a:solidFill>
                <a:latin typeface="Plus Jakarta Sans"/>
              </a:rPr>
              <a:t>Alt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7889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Every image has descriptive alt — generated from caption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C4899"/>
                </a:solidFill>
                <a:latin typeface="Plus Jakarta San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40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5EFFF"/>
                </a:solidFill>
                <a:latin typeface="Plus Jakarta Sans"/>
              </a:rPr>
              <a:t>Header hierarchy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5196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Strict h1→h2→h3 — verified via Wave + axe DevTools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0233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0B981"/>
                </a:solidFill>
                <a:latin typeface="Plus Jakarta San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840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5EFFF"/>
                </a:solidFill>
                <a:latin typeface="Plus Jakarta Sans"/>
              </a:rPr>
              <a:t>Structured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25196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JSON-LD Organization + WebSite + SoftwareApplication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A855F7"/>
                </a:solidFill>
                <a:latin typeface="JetBrains Mono"/>
              </a:rPr>
              <a:t>[ Lighthouse score panel · Performance ___ · SEO 100 · Accessibility ___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6B6D4"/>
                </a:solidFill>
                <a:latin typeface="JetBrains Mono"/>
              </a:rPr>
              <a:t>Live:  https://vidiq-two.vercel.app/sitemap.xml  ·  Submitted to Google Search Console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59E0B"/>
                </a:solidFill>
                <a:latin typeface="Inter"/>
              </a:rPr>
              <a:t>PILLAR 4 · GOOGLE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$210 / 14 days · 3 campaigns · conversion-laddered.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4 · Google 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5EFFF"/>
                </a:solidFill>
                <a:latin typeface="Plus Jakarta Sans"/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855F7"/>
                </a:solidFill>
                <a:latin typeface="Inter"/>
              </a:rPr>
              <a:t>Brand 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$70 · 4 ad groups · exact + phrase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860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5EFFF"/>
                </a:solidFill>
                <a:latin typeface="Plus Jakarta Sans"/>
              </a:rPr>
              <a:t>YouTube In-Stream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71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6B6D4"/>
                </a:solidFill>
                <a:latin typeface="Inter"/>
              </a:rPr>
              <a:t>Awareness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8328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$56 · skippable · 30s creative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5EFFF"/>
                </a:solidFill>
                <a:latin typeface="Plus Jakarta Sans"/>
              </a:rPr>
              <a:t>Performance 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971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C4899"/>
                </a:solidFill>
                <a:latin typeface="Inter"/>
              </a:rPr>
              <a:t>Auto-allocated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38328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$84 (gated D8) · once 30 conv banked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B6080"/>
                </a:solidFill>
                <a:latin typeface="Inter"/>
              </a:rPr>
              <a:t>BIDDING +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·  Start: Maximise Conversions  →  Switch to Target CPA after 30 conv banked.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589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·  Friday negative-keyword sweep: drop terms with &gt; $5 spend, 0 conversions.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5157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·  PMax gated by conv volume; spare reallocates to Search if it doesn't unlock.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0B981"/>
                </a:solidFill>
                <a:latin typeface="Inter"/>
              </a:rPr>
              <a:t>PILLAR 5 ·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$740 planned · $0 actual (showcase).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5 · Budget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31720"/>
            <a:ext cx="6400800" cy="320040"/>
          </a:xfrm>
          <a:prstGeom prst="roundRect">
            <a:avLst>
              <a:gd name="adj" fmla="val 50000"/>
            </a:avLst>
          </a:prstGeom>
          <a:solidFill>
            <a:srgbClr val="18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2331720"/>
            <a:ext cx="2432304" cy="32004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EFFF"/>
                </a:solidFill>
                <a:latin typeface="Plus Jakarta Sans"/>
              </a:rPr>
              <a:t>Meta 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331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A855F7"/>
                </a:solidFill>
                <a:latin typeface="JetBrains Mono"/>
              </a:rPr>
              <a:t>$280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23317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B8B0C8"/>
                </a:solidFill>
                <a:latin typeface="JetBrains Mono"/>
              </a:rPr>
              <a:t>38%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880360"/>
            <a:ext cx="6400800" cy="320040"/>
          </a:xfrm>
          <a:prstGeom prst="roundRect">
            <a:avLst>
              <a:gd name="adj" fmla="val 50000"/>
            </a:avLst>
          </a:prstGeom>
          <a:solidFill>
            <a:srgbClr val="18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2880360"/>
            <a:ext cx="1792224" cy="32004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EFFF"/>
                </a:solidFill>
                <a:latin typeface="Plus Jakarta Sans"/>
              </a:rPr>
              <a:t>Google 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8803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EC4899"/>
                </a:solidFill>
                <a:latin typeface="JetBrains Mono"/>
              </a:rPr>
              <a:t>$210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28803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B8B0C8"/>
                </a:solidFill>
                <a:latin typeface="JetBrains Mono"/>
              </a:rPr>
              <a:t>28%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429000"/>
            <a:ext cx="6400800" cy="320040"/>
          </a:xfrm>
          <a:prstGeom prst="roundRect">
            <a:avLst>
              <a:gd name="adj" fmla="val 50000"/>
            </a:avLst>
          </a:prstGeom>
          <a:solidFill>
            <a:srgbClr val="18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0" y="3429000"/>
            <a:ext cx="1024128" cy="32004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EFFF"/>
                </a:solidFill>
                <a:latin typeface="Plus Jakarta Sans"/>
              </a:rPr>
              <a:t>Creative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429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06B6D4"/>
                </a:solidFill>
                <a:latin typeface="JetBrains Mono"/>
              </a:rPr>
              <a:t>$120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B8B0C8"/>
                </a:solidFill>
                <a:latin typeface="JetBrains Mono"/>
              </a:rPr>
              <a:t>16%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977640"/>
            <a:ext cx="6400800" cy="320040"/>
          </a:xfrm>
          <a:prstGeom prst="roundRect">
            <a:avLst>
              <a:gd name="adj" fmla="val 50000"/>
            </a:avLst>
          </a:prstGeom>
          <a:solidFill>
            <a:srgbClr val="18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0" y="3977640"/>
            <a:ext cx="512064" cy="3200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776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EFFF"/>
                </a:solidFill>
                <a:latin typeface="Plus Jakarta Sans"/>
              </a:rPr>
              <a:t>Influencer seeding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977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10B981"/>
                </a:solidFill>
                <a:latin typeface="JetBrains Mono"/>
              </a:rPr>
              <a:t>$60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977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B8B0C8"/>
                </a:solidFill>
                <a:latin typeface="JetBrains Mono"/>
              </a:rPr>
              <a:t>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526280"/>
            <a:ext cx="6400800" cy="320040"/>
          </a:xfrm>
          <a:prstGeom prst="roundRect">
            <a:avLst>
              <a:gd name="adj" fmla="val 50000"/>
            </a:avLst>
          </a:prstGeom>
          <a:solidFill>
            <a:srgbClr val="18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4526280"/>
            <a:ext cx="448056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5262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EFFF"/>
                </a:solidFill>
                <a:latin typeface="Plus Jakarta Sans"/>
              </a:rPr>
              <a:t>Tools &amp; SaaS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5262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JetBrains Mono"/>
              </a:rPr>
              <a:t>$50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4526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B8B0C8"/>
                </a:solidFill>
                <a:latin typeface="JetBrains Mono"/>
              </a:rPr>
              <a:t>7%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5074920"/>
            <a:ext cx="6400800" cy="320040"/>
          </a:xfrm>
          <a:prstGeom prst="roundRect">
            <a:avLst>
              <a:gd name="adj" fmla="val 50000"/>
            </a:avLst>
          </a:prstGeom>
          <a:solidFill>
            <a:srgbClr val="18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43200" y="5074920"/>
            <a:ext cx="192024" cy="32004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749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EFFF"/>
                </a:solidFill>
                <a:latin typeface="Plus Jakarta Sans"/>
              </a:rPr>
              <a:t>Contingency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5074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F43F5E"/>
                </a:solidFill>
                <a:latin typeface="JetBrains Mono"/>
              </a:rPr>
              <a:t>$20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50749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B8B0C8"/>
                </a:solidFill>
                <a:latin typeface="JetBrains Mono"/>
              </a:rPr>
              <a:t>3%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760720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897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Inter"/>
              </a:rPr>
              <a:t>SHOWCASE ACTUAL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8978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$0 spent — campaigns built to Review screen, screenshotted, never published.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0B981"/>
                </a:solidFill>
                <a:latin typeface="Inter"/>
              </a:rPr>
              <a:t>PILLAR 5 · COMPETITIVE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VidIQ vs NoteGPT vs Eightify.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5 · Competitive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3429000" cy="457200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612"/>
                </a:solidFill>
                <a:latin typeface="Plus Jakarta Sans"/>
              </a:rPr>
              <a:t>VidIQ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194560"/>
            <a:ext cx="3429000" cy="457200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612"/>
                </a:solidFill>
                <a:latin typeface="Plus Jakarta Sans"/>
              </a:rPr>
              <a:t>NoteGPT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0" y="2194560"/>
            <a:ext cx="3429000" cy="457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612"/>
                </a:solidFill>
                <a:latin typeface="Plus Jakarta Sans"/>
              </a:rPr>
              <a:t>Eightify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10561320" cy="18288"/>
          </a:xfrm>
          <a:prstGeom prst="rect">
            <a:avLst/>
          </a:prstGeom>
          <a:solidFill>
            <a:srgbClr val="2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0 (launch)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78892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~3,100 FB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78892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~620 FB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37560"/>
            <a:ext cx="10561320" cy="18288"/>
          </a:xfrm>
          <a:prstGeom prst="rect">
            <a:avLst/>
          </a:prstGeom>
          <a:solidFill>
            <a:srgbClr val="2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8328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0 (launch)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38328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~5,800 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38328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~1,900 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10561320" cy="18288"/>
          </a:xfrm>
          <a:prstGeom prst="rect">
            <a:avLst/>
          </a:prstGeom>
          <a:solidFill>
            <a:srgbClr val="2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7764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Free + paid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97764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Free 5/d → $4.99/mo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397764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Free 4/d → $4.99/mo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26280"/>
            <a:ext cx="10561320" cy="18288"/>
          </a:xfrm>
          <a:prstGeom prst="rect">
            <a:avLst/>
          </a:prstGeom>
          <a:solidFill>
            <a:srgbClr val="2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720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✓ Live + recorded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5720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Recorded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45720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Recorded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120640"/>
            <a:ext cx="10561320" cy="18288"/>
          </a:xfrm>
          <a:prstGeom prst="rect">
            <a:avLst/>
          </a:prstGeom>
          <a:solidFill>
            <a:srgbClr val="2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16636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✓ Multimodal grounding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16636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Text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516636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Text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715000"/>
            <a:ext cx="10561320" cy="18288"/>
          </a:xfrm>
          <a:prstGeom prst="rect">
            <a:avLst/>
          </a:prstGeom>
          <a:solidFill>
            <a:srgbClr val="2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6072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✓ Domain modes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76072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576072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0B981"/>
                </a:solidFill>
                <a:latin typeface="Inter"/>
              </a:rPr>
              <a:t>PILLAR 5 · KPI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17 / 18 strong  ·  4.83 / 5 average.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Pillar 5 · KPI scorecard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847" y="237744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847" y="24688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847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1087" y="237744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1087" y="24688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1087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1327" y="237744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1327" y="24688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1327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59E0B"/>
                </a:solidFill>
                <a:latin typeface="Plus Jakarta Sans"/>
              </a:rPr>
              <a:t>3 /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1567" y="237744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4688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567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1807" y="237744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1807" y="24688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1807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82047" y="237744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82047" y="24688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2047" y="2670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0847" y="310896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0847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847" y="34015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01087" y="310896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01087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01087" y="34015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21327" y="310896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1327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1327" y="34015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4 / 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1567" y="310896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1567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1567" y="34015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1807" y="310896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61807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1807" y="34015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82047" y="310896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82047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82047" y="34015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0847" y="384048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0847" y="3931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0847" y="41330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01087" y="384048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01087" y="3931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01087" y="41330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21327" y="384048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21327" y="3931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21327" y="41330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41567" y="384048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41567" y="3931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41567" y="41330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61807" y="384048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61807" y="3931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61807" y="41330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82047" y="3840480"/>
            <a:ext cx="1828800" cy="640080"/>
          </a:xfrm>
          <a:prstGeom prst="roundRect">
            <a:avLst>
              <a:gd name="adj" fmla="val 18000"/>
            </a:avLst>
          </a:prstGeom>
          <a:solidFill>
            <a:srgbClr val="1610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82047" y="3931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6080"/>
                </a:solidFill>
                <a:latin typeface="JetBrains Mono"/>
              </a:rPr>
              <a:t>KPI 18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82047" y="41330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0B981"/>
                </a:solidFill>
                <a:latin typeface="Plus Jakarta Sans"/>
              </a:rPr>
              <a:t>5 /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B8B0C8"/>
                </a:solidFill>
                <a:latin typeface="Inter"/>
              </a:rPr>
              <a:t>1 KPI at 3 (KPI #3 — 30s video ad, awaiting filming).  Closes to 5 once shot.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A855F7"/>
                </a:solidFill>
                <a:latin typeface="Inter"/>
              </a:rPr>
              <a:t>Q&amp;A ·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5EFFF"/>
                </a:solidFill>
                <a:latin typeface="Plus Jakarta Sans"/>
              </a:rPr>
              <a:t>How citations work — multimodal grounding.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286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855F7"/>
                </a:solidFill>
                <a:latin typeface="Plus Jakarta Sans"/>
              </a:rPr>
              <a:t>VidIQ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080"/>
                </a:solidFill>
                <a:latin typeface="Inter"/>
              </a:rPr>
              <a:t>Backup ·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5EFFF"/>
                </a:solidFill>
                <a:latin typeface="Plus Jakarta Sans"/>
              </a:rPr>
              <a:t>Q. "How do you compete with YouTube's own AI summary?"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B8B0C8"/>
                </a:solidFill>
                <a:latin typeface="Inter"/>
              </a:rPr>
              <a:t>Three durable moats: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10927080" cy="77724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021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855F7"/>
                </a:solidFill>
                <a:latin typeface="Plus Jakarta Sans"/>
              </a:rPr>
              <a:t>1. Live-stream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547872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YouTube's auto-summary is post-hoc only. We process live streams in 30s windows.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97680"/>
            <a:ext cx="10927080" cy="77724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165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855F7"/>
                </a:solidFill>
                <a:latin typeface="Plus Jakarta Sans"/>
              </a:rPr>
              <a:t>2. Multimodal grounding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462272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Every claim cites the exact transcript moment + linked frame. YouTube's is generic.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10927080" cy="777240"/>
          </a:xfrm>
          <a:prstGeom prst="roundRect">
            <a:avLst>
              <a:gd name="adj" fmla="val 6000"/>
            </a:avLst>
          </a:prstGeom>
          <a:solidFill>
            <a:srgbClr val="161021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309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855F7"/>
                </a:solidFill>
                <a:latin typeface="Plus Jakarta Sans"/>
              </a:rPr>
              <a:t>3. Vertical-domain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5376672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5EFFF"/>
                </a:solidFill>
                <a:latin typeface="Inter"/>
              </a:rPr>
              <a:t>Medical / legal / trading prompts adapt the analysis to domain semantics.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